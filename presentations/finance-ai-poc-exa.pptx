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ba5276f3d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dba5276f3d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" name="Google Shape;55;g3dba5276f3d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ba5276f3d_2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g3dba5276f3d_2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" name="Google Shape;78;g3dba5276f3d_2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ba5276f3d_2_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dba5276f3d_2_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4" name="Google Shape;104;g3dba5276f3d_2_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ba5276f3d_2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3dba5276f3d_2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g3dba5276f3d_2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ba5276f3d_2_1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dba5276f3d_2_1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g3dba5276f3d_2_1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ba5276f3d_2_1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dba5276f3d_2_1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g3dba5276f3d_2_1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ba5276f3d_2_1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dba5276f3d_2_1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4" name="Google Shape;234;g3dba5276f3d_2_1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ba5276f3d_2_2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g3dba5276f3d_2_2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1" name="Google Shape;261;g3dba5276f3d_2_2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ba5276f3d_2_2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3dba5276f3d_2_2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6" name="Google Shape;286;g3dba5276f3d_2_2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3D"/>
          </a:solidFill>
          <a:ln cap="flat" cmpd="sng" w="9525">
            <a:solidFill>
              <a:srgbClr val="071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1500188" y="371475"/>
            <a:ext cx="18573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Finance AI POC</a:t>
            </a:r>
            <a:endParaRPr sz="1100"/>
          </a:p>
        </p:txBody>
      </p:sp>
      <p:sp>
        <p:nvSpPr>
          <p:cNvPr id="59" name="Google Shape;59;p15"/>
          <p:cNvSpPr/>
          <p:nvPr/>
        </p:nvSpPr>
        <p:spPr>
          <a:xfrm>
            <a:off x="500063" y="1214438"/>
            <a:ext cx="514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POC Finance AI</a:t>
            </a:r>
            <a:endParaRPr sz="1100"/>
          </a:p>
        </p:txBody>
      </p:sp>
      <p:sp>
        <p:nvSpPr>
          <p:cNvPr id="60" name="Google Shape;60;p15"/>
          <p:cNvSpPr/>
          <p:nvPr/>
        </p:nvSpPr>
        <p:spPr>
          <a:xfrm>
            <a:off x="528638" y="1843088"/>
            <a:ext cx="5429250" cy="5857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D7E5FF"/>
                </a:solidFill>
                <a:latin typeface="Arial"/>
                <a:ea typeface="Arial"/>
                <a:cs typeface="Arial"/>
                <a:sym typeface="Arial"/>
              </a:rPr>
              <a:t>Um agente financeiro conversacional para transformar dados do BigQuery em respostas de negocio no Google Chat.</a:t>
            </a:r>
            <a:endParaRPr sz="1100"/>
          </a:p>
        </p:txBody>
      </p:sp>
      <p:sp>
        <p:nvSpPr>
          <p:cNvPr id="61" name="Google Shape;61;p15"/>
          <p:cNvSpPr/>
          <p:nvPr/>
        </p:nvSpPr>
        <p:spPr>
          <a:xfrm>
            <a:off x="528638" y="2714625"/>
            <a:ext cx="1071563" cy="242888"/>
          </a:xfrm>
          <a:prstGeom prst="rect">
            <a:avLst/>
          </a:prstGeom>
          <a:solidFill>
            <a:srgbClr val="153A75"/>
          </a:solidFill>
          <a:ln cap="flat" cmpd="sng" w="9525">
            <a:solidFill>
              <a:srgbClr val="153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28650" y="2771775"/>
            <a:ext cx="8715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BFD7FF"/>
                </a:solidFill>
                <a:latin typeface="Arial"/>
                <a:ea typeface="Arial"/>
                <a:cs typeface="Arial"/>
                <a:sym typeface="Arial"/>
              </a:rPr>
              <a:t>ADK + Vertex AI</a:t>
            </a:r>
            <a:endParaRPr sz="1100"/>
          </a:p>
        </p:txBody>
      </p:sp>
      <p:sp>
        <p:nvSpPr>
          <p:cNvPr id="63" name="Google Shape;63;p15"/>
          <p:cNvSpPr/>
          <p:nvPr/>
        </p:nvSpPr>
        <p:spPr>
          <a:xfrm>
            <a:off x="1743075" y="2714625"/>
            <a:ext cx="785813" cy="242888"/>
          </a:xfrm>
          <a:prstGeom prst="rect">
            <a:avLst/>
          </a:prstGeom>
          <a:solidFill>
            <a:srgbClr val="153A75"/>
          </a:solidFill>
          <a:ln cap="flat" cmpd="sng" w="9525">
            <a:solidFill>
              <a:srgbClr val="153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1843088" y="2771775"/>
            <a:ext cx="58578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BFD7FF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endParaRPr sz="1100"/>
          </a:p>
        </p:txBody>
      </p:sp>
      <p:sp>
        <p:nvSpPr>
          <p:cNvPr id="65" name="Google Shape;65;p15"/>
          <p:cNvSpPr/>
          <p:nvPr/>
        </p:nvSpPr>
        <p:spPr>
          <a:xfrm>
            <a:off x="2671763" y="2714625"/>
            <a:ext cx="942975" cy="242888"/>
          </a:xfrm>
          <a:prstGeom prst="rect">
            <a:avLst/>
          </a:prstGeom>
          <a:solidFill>
            <a:srgbClr val="153A75"/>
          </a:solidFill>
          <a:ln cap="flat" cmpd="sng" w="9525">
            <a:solidFill>
              <a:srgbClr val="153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771775" y="2771775"/>
            <a:ext cx="74295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BFD7FF"/>
                </a:solidFill>
                <a:latin typeface="Arial"/>
                <a:ea typeface="Arial"/>
                <a:cs typeface="Arial"/>
                <a:sym typeface="Arial"/>
              </a:rPr>
              <a:t>Google Chat</a:t>
            </a:r>
            <a:endParaRPr sz="1100"/>
          </a:p>
        </p:txBody>
      </p:sp>
      <p:sp>
        <p:nvSpPr>
          <p:cNvPr id="67" name="Google Shape;67;p15"/>
          <p:cNvSpPr/>
          <p:nvPr/>
        </p:nvSpPr>
        <p:spPr>
          <a:xfrm>
            <a:off x="3757613" y="2714625"/>
            <a:ext cx="842963" cy="242888"/>
          </a:xfrm>
          <a:prstGeom prst="rect">
            <a:avLst/>
          </a:prstGeom>
          <a:solidFill>
            <a:srgbClr val="153A75"/>
          </a:solidFill>
          <a:ln cap="flat" cmpd="sng" w="9525">
            <a:solidFill>
              <a:srgbClr val="153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857625" y="2771775"/>
            <a:ext cx="642938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BFD7FF"/>
                </a:solidFill>
                <a:latin typeface="Arial"/>
                <a:ea typeface="Arial"/>
                <a:cs typeface="Arial"/>
                <a:sym typeface="Arial"/>
              </a:rPr>
              <a:t>Cloud Run</a:t>
            </a:r>
            <a:endParaRPr sz="1100"/>
          </a:p>
        </p:txBody>
      </p:sp>
      <p:sp>
        <p:nvSpPr>
          <p:cNvPr id="69" name="Google Shape;69;p15"/>
          <p:cNvSpPr/>
          <p:nvPr/>
        </p:nvSpPr>
        <p:spPr>
          <a:xfrm>
            <a:off x="6500813" y="842963"/>
            <a:ext cx="1643063" cy="1643063"/>
          </a:xfrm>
          <a:prstGeom prst="ellipse">
            <a:avLst/>
          </a:prstGeom>
          <a:solidFill>
            <a:srgbClr val="0E3B82"/>
          </a:solidFill>
          <a:ln cap="flat" cmpd="sng" w="9525">
            <a:solidFill>
              <a:srgbClr val="0E3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6858000" y="1200150"/>
            <a:ext cx="928688" cy="928688"/>
          </a:xfrm>
          <a:prstGeom prst="ellipse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7122319" y="1335881"/>
            <a:ext cx="428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72" name="Google Shape;72;p15"/>
          <p:cNvSpPr/>
          <p:nvPr/>
        </p:nvSpPr>
        <p:spPr>
          <a:xfrm>
            <a:off x="6107906" y="2893219"/>
            <a:ext cx="2428875" cy="5286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POC validada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 endpoint Cloud Run</a:t>
            </a:r>
            <a:endParaRPr sz="1100"/>
          </a:p>
        </p:txBody>
      </p:sp>
      <p:sp>
        <p:nvSpPr>
          <p:cNvPr id="73" name="Google Shape;73;p15"/>
          <p:cNvSpPr/>
          <p:nvPr/>
        </p:nvSpPr>
        <p:spPr>
          <a:xfrm>
            <a:off x="528638" y="4557713"/>
            <a:ext cx="22860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9FB7E8"/>
                </a:solidFill>
                <a:latin typeface="Arial"/>
                <a:ea typeface="Arial"/>
                <a:cs typeface="Arial"/>
                <a:sym typeface="Arial"/>
              </a:rPr>
              <a:t>Checkpoint: 02/05/2026</a:t>
            </a:r>
            <a:endParaRPr sz="1100"/>
          </a:p>
        </p:txBody>
      </p:sp>
      <p:pic>
        <p:nvPicPr>
          <p:cNvPr id="74" name="Google Shape;74;p15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9289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cap="flat" cmpd="sng" w="9525">
            <a:solidFill>
              <a:srgbClr val="F5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00063" y="892969"/>
            <a:ext cx="171450" cy="21431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71525" y="84296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CONTEXTO EXA</a:t>
            </a:r>
            <a:endParaRPr sz="1100"/>
          </a:p>
        </p:txBody>
      </p:sp>
      <p:sp>
        <p:nvSpPr>
          <p:cNvPr id="83" name="Google Shape;83;p16"/>
          <p:cNvSpPr/>
          <p:nvPr/>
        </p:nvSpPr>
        <p:spPr>
          <a:xfrm>
            <a:off x="500063" y="1071563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71A3D"/>
                </a:solidFill>
                <a:latin typeface="Play"/>
                <a:ea typeface="Play"/>
                <a:cs typeface="Play"/>
                <a:sym typeface="Play"/>
              </a:rPr>
              <a:t>A escala digital da EXA pede interfaces de dados mais naturais.</a:t>
            </a:r>
            <a:endParaRPr sz="1100"/>
          </a:p>
        </p:txBody>
      </p:sp>
      <p:sp>
        <p:nvSpPr>
          <p:cNvPr id="84" name="Google Shape;84;p16"/>
          <p:cNvSpPr/>
          <p:nvPr/>
        </p:nvSpPr>
        <p:spPr>
          <a:xfrm>
            <a:off x="514350" y="2014538"/>
            <a:ext cx="5429250" cy="6572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300" lIns="14300" spcFirstLastPara="1" rIns="14300" wrap="square" tIns="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 EXA se posiciona como um ecossistema de protecao digital com tecnologia de ponta. A POC conecta esse contexto a uma capacidade interna: usuarios de negocio perguntam, o agente consulta dados governados e responde com rastreabilidade.</a:t>
            </a:r>
            <a:endParaRPr sz="1100"/>
          </a:p>
        </p:txBody>
      </p:sp>
      <p:sp>
        <p:nvSpPr>
          <p:cNvPr id="85" name="Google Shape;85;p16"/>
          <p:cNvSpPr/>
          <p:nvPr/>
        </p:nvSpPr>
        <p:spPr>
          <a:xfrm>
            <a:off x="571500" y="3071813"/>
            <a:ext cx="15001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0057FF"/>
                </a:solidFill>
                <a:latin typeface="Play"/>
                <a:ea typeface="Play"/>
                <a:cs typeface="Play"/>
                <a:sym typeface="Play"/>
              </a:rPr>
              <a:t>+25 mi</a:t>
            </a:r>
            <a:endParaRPr sz="1100"/>
          </a:p>
        </p:txBody>
      </p:sp>
      <p:sp>
        <p:nvSpPr>
          <p:cNvPr id="86" name="Google Shape;86;p16"/>
          <p:cNvSpPr/>
          <p:nvPr/>
        </p:nvSpPr>
        <p:spPr>
          <a:xfrm>
            <a:off x="571500" y="3486150"/>
            <a:ext cx="1500188" cy="14288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71500" y="3571875"/>
            <a:ext cx="1500188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assinaturas nos servicos</a:t>
            </a:r>
            <a:endParaRPr sz="1100"/>
          </a:p>
        </p:txBody>
      </p:sp>
      <p:sp>
        <p:nvSpPr>
          <p:cNvPr id="88" name="Google Shape;88;p16"/>
          <p:cNvSpPr/>
          <p:nvPr/>
        </p:nvSpPr>
        <p:spPr>
          <a:xfrm>
            <a:off x="2500313" y="3071813"/>
            <a:ext cx="15001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00B8A9"/>
                </a:solidFill>
                <a:latin typeface="Play"/>
                <a:ea typeface="Play"/>
                <a:cs typeface="Play"/>
                <a:sym typeface="Play"/>
              </a:rPr>
              <a:t>+2 mi</a:t>
            </a:r>
            <a:endParaRPr sz="1100"/>
          </a:p>
        </p:txBody>
      </p:sp>
      <p:sp>
        <p:nvSpPr>
          <p:cNvPr id="89" name="Google Shape;89;p16"/>
          <p:cNvSpPr/>
          <p:nvPr/>
        </p:nvSpPr>
        <p:spPr>
          <a:xfrm>
            <a:off x="2500313" y="3486150"/>
            <a:ext cx="1500188" cy="14288"/>
          </a:xfrm>
          <a:prstGeom prst="rect">
            <a:avLst/>
          </a:prstGeom>
          <a:solidFill>
            <a:srgbClr val="00B8A9"/>
          </a:solidFill>
          <a:ln cap="flat" cmpd="sng" w="9525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2500313" y="3571875"/>
            <a:ext cx="1500188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operacoes diarias</a:t>
            </a:r>
            <a:endParaRPr sz="1100"/>
          </a:p>
        </p:txBody>
      </p:sp>
      <p:sp>
        <p:nvSpPr>
          <p:cNvPr id="91" name="Google Shape;91;p16"/>
          <p:cNvSpPr/>
          <p:nvPr/>
        </p:nvSpPr>
        <p:spPr>
          <a:xfrm>
            <a:off x="4429125" y="3071813"/>
            <a:ext cx="1500188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F5A623"/>
                </a:solidFill>
                <a:latin typeface="Play"/>
                <a:ea typeface="Play"/>
                <a:cs typeface="Play"/>
                <a:sym typeface="Play"/>
              </a:rPr>
              <a:t>+200</a:t>
            </a:r>
            <a:endParaRPr sz="1100"/>
          </a:p>
        </p:txBody>
      </p:sp>
      <p:sp>
        <p:nvSpPr>
          <p:cNvPr id="92" name="Google Shape;92;p16"/>
          <p:cNvSpPr/>
          <p:nvPr/>
        </p:nvSpPr>
        <p:spPr>
          <a:xfrm>
            <a:off x="4429125" y="3486150"/>
            <a:ext cx="1500188" cy="14288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429125" y="3571875"/>
            <a:ext cx="1500188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colaboradores</a:t>
            </a:r>
            <a:endParaRPr sz="1100"/>
          </a:p>
        </p:txBody>
      </p:sp>
      <p:sp>
        <p:nvSpPr>
          <p:cNvPr id="94" name="Google Shape;94;p16"/>
          <p:cNvSpPr/>
          <p:nvPr/>
        </p:nvSpPr>
        <p:spPr>
          <a:xfrm>
            <a:off x="6643688" y="1107281"/>
            <a:ext cx="1785938" cy="27860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858000" y="1357313"/>
            <a:ext cx="13573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Tese</a:t>
            </a:r>
            <a:endParaRPr sz="1100"/>
          </a:p>
        </p:txBody>
      </p:sp>
      <p:sp>
        <p:nvSpPr>
          <p:cNvPr id="96" name="Google Shape;96;p16"/>
          <p:cNvSpPr/>
          <p:nvPr/>
        </p:nvSpPr>
        <p:spPr>
          <a:xfrm>
            <a:off x="6858000" y="1678781"/>
            <a:ext cx="1321594" cy="12144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A IA nao substitui o BI; ela cria uma nova porta de entrada para perguntas recorrentes e investigacoes rapidas.</a:t>
            </a:r>
            <a:endParaRPr sz="1100"/>
          </a:p>
        </p:txBody>
      </p:sp>
      <p:sp>
        <p:nvSpPr>
          <p:cNvPr id="97" name="Google Shape;97;p16"/>
          <p:cNvSpPr/>
          <p:nvPr/>
        </p:nvSpPr>
        <p:spPr>
          <a:xfrm>
            <a:off x="6858000" y="3107531"/>
            <a:ext cx="1357313" cy="4286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8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Comecar por Financeiro reduz ambiguidade e facilita governanca de metricas.</a:t>
            </a:r>
            <a:endParaRPr sz="1100"/>
          </a:p>
        </p:txBody>
      </p:sp>
      <p:sp>
        <p:nvSpPr>
          <p:cNvPr id="98" name="Google Shape;98;p16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Fonte: exa.com.br e exa.com.br/sobre, acessados em 2026-05-02</a:t>
            </a:r>
            <a:endParaRPr sz="1100"/>
          </a:p>
        </p:txBody>
      </p:sp>
      <p:sp>
        <p:nvSpPr>
          <p:cNvPr id="99" name="Google Shape;99;p16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pic>
        <p:nvPicPr>
          <p:cNvPr id="100" name="Google Shape;100;p16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500063" y="892969"/>
            <a:ext cx="171450" cy="21431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771525" y="84296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MVP FINANCEIRO</a:t>
            </a:r>
            <a:endParaRPr sz="1100"/>
          </a:p>
        </p:txBody>
      </p:sp>
      <p:sp>
        <p:nvSpPr>
          <p:cNvPr id="109" name="Google Shape;109;p17"/>
          <p:cNvSpPr/>
          <p:nvPr/>
        </p:nvSpPr>
        <p:spPr>
          <a:xfrm>
            <a:off x="500063" y="1071563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71A3D"/>
                </a:solidFill>
                <a:latin typeface="Play"/>
                <a:ea typeface="Play"/>
                <a:cs typeface="Play"/>
                <a:sym typeface="Play"/>
              </a:rPr>
              <a:t>A POC ficou pequena de proposito: um dominio, views controladas e perguntas reais.</a:t>
            </a:r>
            <a:endParaRPr sz="1100"/>
          </a:p>
        </p:txBody>
      </p:sp>
      <p:sp>
        <p:nvSpPr>
          <p:cNvPr id="110" name="Google Shape;110;p17"/>
          <p:cNvSpPr/>
          <p:nvPr/>
        </p:nvSpPr>
        <p:spPr>
          <a:xfrm>
            <a:off x="571500" y="2357438"/>
            <a:ext cx="1785937" cy="10715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71500" y="2357438"/>
            <a:ext cx="50006" cy="1071563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742950" y="2500313"/>
            <a:ext cx="14716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Dominio inicial</a:t>
            </a:r>
            <a:endParaRPr sz="1100"/>
          </a:p>
        </p:txBody>
      </p:sp>
      <p:sp>
        <p:nvSpPr>
          <p:cNvPr id="113" name="Google Shape;113;p17"/>
          <p:cNvSpPr/>
          <p:nvPr/>
        </p:nvSpPr>
        <p:spPr>
          <a:xfrm>
            <a:off x="742950" y="2757488"/>
            <a:ext cx="1471613" cy="4429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Financeiro: receita, despesa, realizado versus orcado e fornecedores.</a:t>
            </a:r>
            <a:endParaRPr sz="1100"/>
          </a:p>
        </p:txBody>
      </p:sp>
      <p:sp>
        <p:nvSpPr>
          <p:cNvPr id="114" name="Google Shape;114;p17"/>
          <p:cNvSpPr/>
          <p:nvPr/>
        </p:nvSpPr>
        <p:spPr>
          <a:xfrm>
            <a:off x="2607469" y="2357438"/>
            <a:ext cx="1785938" cy="10715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2607469" y="2357438"/>
            <a:ext cx="50006" cy="1071563"/>
          </a:xfrm>
          <a:prstGeom prst="rect">
            <a:avLst/>
          </a:prstGeom>
          <a:solidFill>
            <a:srgbClr val="00B8A9"/>
          </a:solidFill>
          <a:ln cap="flat" cmpd="sng" w="9525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2778919" y="2500313"/>
            <a:ext cx="14716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Fonte de dados</a:t>
            </a:r>
            <a:endParaRPr sz="1100"/>
          </a:p>
        </p:txBody>
      </p:sp>
      <p:sp>
        <p:nvSpPr>
          <p:cNvPr id="117" name="Google Shape;117;p17"/>
          <p:cNvSpPr/>
          <p:nvPr/>
        </p:nvSpPr>
        <p:spPr>
          <a:xfrm>
            <a:off x="2778919" y="2757488"/>
            <a:ext cx="1471613" cy="4429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BigQuery no projeto hml-data-clean, com dados ficticios e views semanticas.</a:t>
            </a:r>
            <a:endParaRPr sz="1100"/>
          </a:p>
        </p:txBody>
      </p:sp>
      <p:sp>
        <p:nvSpPr>
          <p:cNvPr id="118" name="Google Shape;118;p17"/>
          <p:cNvSpPr/>
          <p:nvPr/>
        </p:nvSpPr>
        <p:spPr>
          <a:xfrm>
            <a:off x="4643438" y="2357438"/>
            <a:ext cx="1785938" cy="10715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4643438" y="2357438"/>
            <a:ext cx="50006" cy="1071563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814888" y="2500313"/>
            <a:ext cx="14716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Canal</a:t>
            </a:r>
            <a:endParaRPr sz="1100"/>
          </a:p>
        </p:txBody>
      </p:sp>
      <p:sp>
        <p:nvSpPr>
          <p:cNvPr id="121" name="Google Shape;121;p17"/>
          <p:cNvSpPr/>
          <p:nvPr/>
        </p:nvSpPr>
        <p:spPr>
          <a:xfrm>
            <a:off x="4814888" y="2757488"/>
            <a:ext cx="1471613" cy="4429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Google Chat como interface para areas de negocio.</a:t>
            </a:r>
            <a:endParaRPr sz="1100"/>
          </a:p>
        </p:txBody>
      </p:sp>
      <p:sp>
        <p:nvSpPr>
          <p:cNvPr id="122" name="Google Shape;122;p17"/>
          <p:cNvSpPr/>
          <p:nvPr/>
        </p:nvSpPr>
        <p:spPr>
          <a:xfrm>
            <a:off x="6679406" y="2357438"/>
            <a:ext cx="1785938" cy="10715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6679406" y="2357438"/>
            <a:ext cx="50006" cy="1071563"/>
          </a:xfrm>
          <a:prstGeom prst="rect">
            <a:avLst/>
          </a:prstGeom>
          <a:solidFill>
            <a:srgbClr val="10A66A"/>
          </a:solidFill>
          <a:ln cap="flat" cmpd="sng" w="9525">
            <a:solidFill>
              <a:srgbClr val="10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850856" y="2500313"/>
            <a:ext cx="14716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Seguranca</a:t>
            </a:r>
            <a:endParaRPr sz="1100"/>
          </a:p>
        </p:txBody>
      </p:sp>
      <p:sp>
        <p:nvSpPr>
          <p:cNvPr id="125" name="Google Shape;125;p17"/>
          <p:cNvSpPr/>
          <p:nvPr/>
        </p:nvSpPr>
        <p:spPr>
          <a:xfrm>
            <a:off x="6850856" y="2757488"/>
            <a:ext cx="1471613" cy="4429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SQL validado, allowlist de views, dry run e limite de bytes.</a:t>
            </a:r>
            <a:endParaRPr sz="1100"/>
          </a:p>
        </p:txBody>
      </p:sp>
      <p:sp>
        <p:nvSpPr>
          <p:cNvPr id="126" name="Google Shape;126;p17"/>
          <p:cNvSpPr/>
          <p:nvPr/>
        </p:nvSpPr>
        <p:spPr>
          <a:xfrm>
            <a:off x="750094" y="3893344"/>
            <a:ext cx="7286625" cy="3286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Resultado: o nucleo tecnico ja responde perguntas financeiras via endpoint Cloud Run autenticado.</a:t>
            </a:r>
            <a:endParaRPr sz="1100"/>
          </a:p>
        </p:txBody>
      </p:sp>
      <p:sp>
        <p:nvSpPr>
          <p:cNvPr id="127" name="Google Shape;127;p17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Fonte: POC Finance AI e documentacao local</a:t>
            </a:r>
            <a:endParaRPr sz="1100"/>
          </a:p>
        </p:txBody>
      </p:sp>
      <p:sp>
        <p:nvSpPr>
          <p:cNvPr id="128" name="Google Shape;128;p17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pic>
        <p:nvPicPr>
          <p:cNvPr id="129" name="Google Shape;129;p17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cap="flat" cmpd="sng" w="9525">
            <a:solidFill>
              <a:srgbClr val="F5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00063" y="892969"/>
            <a:ext cx="171450" cy="21431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71525" y="84296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sz="1100"/>
          </a:p>
        </p:txBody>
      </p:sp>
      <p:sp>
        <p:nvSpPr>
          <p:cNvPr id="138" name="Google Shape;138;p18"/>
          <p:cNvSpPr/>
          <p:nvPr/>
        </p:nvSpPr>
        <p:spPr>
          <a:xfrm>
            <a:off x="500063" y="1035844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071A3D"/>
                </a:solidFill>
                <a:latin typeface="Play"/>
                <a:ea typeface="Play"/>
                <a:cs typeface="Play"/>
                <a:sym typeface="Play"/>
              </a:rPr>
              <a:t>A arquitetura separa conversa, raciocinio, protecao e dados.</a:t>
            </a:r>
            <a:endParaRPr sz="1100"/>
          </a:p>
        </p:txBody>
      </p:sp>
      <p:sp>
        <p:nvSpPr>
          <p:cNvPr id="139" name="Google Shape;139;p18"/>
          <p:cNvSpPr/>
          <p:nvPr/>
        </p:nvSpPr>
        <p:spPr>
          <a:xfrm>
            <a:off x="500063" y="2107406"/>
            <a:ext cx="1214438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00063" y="2107406"/>
            <a:ext cx="1214438" cy="50006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628650" y="2264569"/>
            <a:ext cx="957262" cy="1785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Google Chat</a:t>
            </a:r>
            <a:endParaRPr sz="1100"/>
          </a:p>
        </p:txBody>
      </p:sp>
      <p:sp>
        <p:nvSpPr>
          <p:cNvPr id="142" name="Google Shape;142;p18"/>
          <p:cNvSpPr/>
          <p:nvPr/>
        </p:nvSpPr>
        <p:spPr>
          <a:xfrm>
            <a:off x="628650" y="2521744"/>
            <a:ext cx="957262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interface onde o usuario faz perguntas</a:t>
            </a:r>
            <a:endParaRPr sz="1100"/>
          </a:p>
        </p:txBody>
      </p:sp>
      <p:sp>
        <p:nvSpPr>
          <p:cNvPr id="143" name="Google Shape;143;p18"/>
          <p:cNvSpPr/>
          <p:nvPr/>
        </p:nvSpPr>
        <p:spPr>
          <a:xfrm>
            <a:off x="2035969" y="2107406"/>
            <a:ext cx="1357313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035969" y="2107406"/>
            <a:ext cx="1357313" cy="50006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2164556" y="2264569"/>
            <a:ext cx="1100138" cy="1785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Cloud Run</a:t>
            </a:r>
            <a:endParaRPr sz="1100"/>
          </a:p>
        </p:txBody>
      </p:sp>
      <p:sp>
        <p:nvSpPr>
          <p:cNvPr id="146" name="Google Shape;146;p18"/>
          <p:cNvSpPr/>
          <p:nvPr/>
        </p:nvSpPr>
        <p:spPr>
          <a:xfrm>
            <a:off x="2164556" y="2521744"/>
            <a:ext cx="11001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adapter HTTP que traduz eventos do Chat</a:t>
            </a:r>
            <a:endParaRPr sz="1100"/>
          </a:p>
        </p:txBody>
      </p:sp>
      <p:sp>
        <p:nvSpPr>
          <p:cNvPr id="147" name="Google Shape;147;p18"/>
          <p:cNvSpPr/>
          <p:nvPr/>
        </p:nvSpPr>
        <p:spPr>
          <a:xfrm>
            <a:off x="3714750" y="2107406"/>
            <a:ext cx="1357313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714750" y="2107406"/>
            <a:ext cx="1357313" cy="50006"/>
          </a:xfrm>
          <a:prstGeom prst="rect">
            <a:avLst/>
          </a:prstGeom>
          <a:solidFill>
            <a:srgbClr val="00B8A9"/>
          </a:solidFill>
          <a:ln cap="flat" cmpd="sng" w="9525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3843338" y="2264569"/>
            <a:ext cx="1100138" cy="1785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ADK Agent</a:t>
            </a:r>
            <a:endParaRPr sz="1100"/>
          </a:p>
        </p:txBody>
      </p:sp>
      <p:sp>
        <p:nvSpPr>
          <p:cNvPr id="150" name="Google Shape;150;p18"/>
          <p:cNvSpPr/>
          <p:nvPr/>
        </p:nvSpPr>
        <p:spPr>
          <a:xfrm>
            <a:off x="3843338" y="2521744"/>
            <a:ext cx="1100138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orquestra a pergunta e chama ferramentas</a:t>
            </a:r>
            <a:endParaRPr sz="1100"/>
          </a:p>
        </p:txBody>
      </p:sp>
      <p:sp>
        <p:nvSpPr>
          <p:cNvPr id="151" name="Google Shape;151;p18"/>
          <p:cNvSpPr/>
          <p:nvPr/>
        </p:nvSpPr>
        <p:spPr>
          <a:xfrm>
            <a:off x="5393531" y="2107406"/>
            <a:ext cx="1464469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393531" y="2107406"/>
            <a:ext cx="1464469" cy="50006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522119" y="2264569"/>
            <a:ext cx="1207294" cy="1785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SQL Validator</a:t>
            </a:r>
            <a:endParaRPr sz="1100"/>
          </a:p>
        </p:txBody>
      </p:sp>
      <p:sp>
        <p:nvSpPr>
          <p:cNvPr id="154" name="Google Shape;154;p18"/>
          <p:cNvSpPr/>
          <p:nvPr/>
        </p:nvSpPr>
        <p:spPr>
          <a:xfrm>
            <a:off x="5522119" y="2521744"/>
            <a:ext cx="1207294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bloqueia comandos perigosos e faz dry run</a:t>
            </a:r>
            <a:endParaRPr sz="1100"/>
          </a:p>
        </p:txBody>
      </p:sp>
      <p:sp>
        <p:nvSpPr>
          <p:cNvPr id="155" name="Google Shape;155;p18"/>
          <p:cNvSpPr/>
          <p:nvPr/>
        </p:nvSpPr>
        <p:spPr>
          <a:xfrm>
            <a:off x="7215188" y="2107406"/>
            <a:ext cx="1285875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215188" y="2107406"/>
            <a:ext cx="1285875" cy="50006"/>
          </a:xfrm>
          <a:prstGeom prst="rect">
            <a:avLst/>
          </a:prstGeom>
          <a:solidFill>
            <a:srgbClr val="10A66A"/>
          </a:solidFill>
          <a:ln cap="flat" cmpd="sng" w="9525">
            <a:solidFill>
              <a:srgbClr val="10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343775" y="2264569"/>
            <a:ext cx="1028700" cy="1785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endParaRPr sz="1100"/>
          </a:p>
        </p:txBody>
      </p:sp>
      <p:sp>
        <p:nvSpPr>
          <p:cNvPr id="158" name="Google Shape;158;p18"/>
          <p:cNvSpPr/>
          <p:nvPr/>
        </p:nvSpPr>
        <p:spPr>
          <a:xfrm>
            <a:off x="7343775" y="2521744"/>
            <a:ext cx="1028700" cy="2714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views financeiras governadas</a:t>
            </a:r>
            <a:endParaRPr sz="1100"/>
          </a:p>
        </p:txBody>
      </p:sp>
      <p:sp>
        <p:nvSpPr>
          <p:cNvPr id="159" name="Google Shape;159;p18"/>
          <p:cNvSpPr/>
          <p:nvPr/>
        </p:nvSpPr>
        <p:spPr>
          <a:xfrm>
            <a:off x="1750219" y="2514600"/>
            <a:ext cx="250031" cy="28575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1928813" y="2471738"/>
            <a:ext cx="114300" cy="114300"/>
          </a:xfrm>
          <a:prstGeom prst="triangle">
            <a:avLst>
              <a:gd fmla="val 50000" name="adj"/>
            </a:avLst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3429000" y="2514600"/>
            <a:ext cx="250031" cy="28575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3607594" y="2471738"/>
            <a:ext cx="114300" cy="114300"/>
          </a:xfrm>
          <a:prstGeom prst="triangle">
            <a:avLst>
              <a:gd fmla="val 50000" name="adj"/>
            </a:avLst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107781" y="2514600"/>
            <a:ext cx="250031" cy="28575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286375" y="2471738"/>
            <a:ext cx="114300" cy="114300"/>
          </a:xfrm>
          <a:prstGeom prst="triangle">
            <a:avLst>
              <a:gd fmla="val 50000" name="adj"/>
            </a:avLst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6893719" y="2514600"/>
            <a:ext cx="285750" cy="28575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108031" y="2471738"/>
            <a:ext cx="114300" cy="114300"/>
          </a:xfrm>
          <a:prstGeom prst="triangle">
            <a:avLst>
              <a:gd fmla="val 50000" name="adj"/>
            </a:avLst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3714750" y="3393281"/>
            <a:ext cx="1357313" cy="728663"/>
          </a:xfrm>
          <a:prstGeom prst="rect">
            <a:avLst/>
          </a:prstGeom>
          <a:solidFill>
            <a:srgbClr val="EAF2FF"/>
          </a:solidFill>
          <a:ln cap="flat" cmpd="sng" w="9525">
            <a:solidFill>
              <a:srgbClr val="C9D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3857625" y="3571875"/>
            <a:ext cx="107156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Vertex AI / Gemini</a:t>
            </a:r>
            <a:endParaRPr sz="1100"/>
          </a:p>
        </p:txBody>
      </p:sp>
      <p:sp>
        <p:nvSpPr>
          <p:cNvPr id="169" name="Google Shape;169;p18"/>
          <p:cNvSpPr/>
          <p:nvPr/>
        </p:nvSpPr>
        <p:spPr>
          <a:xfrm>
            <a:off x="3857613" y="3843188"/>
            <a:ext cx="10716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raciocinio e geracao de SQL</a:t>
            </a:r>
            <a:endParaRPr sz="1100"/>
          </a:p>
        </p:txBody>
      </p:sp>
      <p:sp>
        <p:nvSpPr>
          <p:cNvPr id="170" name="Google Shape;170;p18"/>
          <p:cNvSpPr/>
          <p:nvPr/>
        </p:nvSpPr>
        <p:spPr>
          <a:xfrm>
            <a:off x="4393406" y="3000375"/>
            <a:ext cx="28575" cy="392906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464469" y="4300538"/>
            <a:ext cx="6215063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A IA entende a pergunta; a ferramenta controla a execucao.</a:t>
            </a:r>
            <a:endParaRPr sz="1100"/>
          </a:p>
        </p:txBody>
      </p:sp>
      <p:sp>
        <p:nvSpPr>
          <p:cNvPr id="172" name="Google Shape;172;p18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Fonte: docs/architecture_flow.svg da POC</a:t>
            </a:r>
            <a:endParaRPr sz="1100"/>
          </a:p>
        </p:txBody>
      </p:sp>
      <p:sp>
        <p:nvSpPr>
          <p:cNvPr id="173" name="Google Shape;173;p18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pic>
        <p:nvPicPr>
          <p:cNvPr id="174" name="Google Shape;174;p18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00063" y="892969"/>
            <a:ext cx="171450" cy="21431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771525" y="84296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COMO O AGENTE PENSA</a:t>
            </a:r>
            <a:endParaRPr sz="1100"/>
          </a:p>
        </p:txBody>
      </p:sp>
      <p:sp>
        <p:nvSpPr>
          <p:cNvPr id="183" name="Google Shape;183;p19"/>
          <p:cNvSpPr/>
          <p:nvPr/>
        </p:nvSpPr>
        <p:spPr>
          <a:xfrm>
            <a:off x="500063" y="1035844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71A3D"/>
                </a:solidFill>
                <a:latin typeface="Play"/>
                <a:ea typeface="Play"/>
                <a:cs typeface="Play"/>
                <a:sym typeface="Play"/>
              </a:rPr>
              <a:t>O agente e controlado por tres pecas: instrucao, catalogo e ferramenta.</a:t>
            </a:r>
            <a:endParaRPr sz="1100"/>
          </a:p>
        </p:txBody>
      </p:sp>
      <p:sp>
        <p:nvSpPr>
          <p:cNvPr id="184" name="Google Shape;184;p19"/>
          <p:cNvSpPr/>
          <p:nvPr/>
        </p:nvSpPr>
        <p:spPr>
          <a:xfrm>
            <a:off x="642938" y="2250281"/>
            <a:ext cx="22860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785813" y="2378869"/>
            <a:ext cx="242888" cy="242888"/>
          </a:xfrm>
          <a:prstGeom prst="ellipse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143000" y="2393156"/>
            <a:ext cx="16430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Instrucao</a:t>
            </a:r>
            <a:endParaRPr sz="1100"/>
          </a:p>
        </p:txBody>
      </p:sp>
      <p:sp>
        <p:nvSpPr>
          <p:cNvPr id="187" name="Google Shape;187;p19"/>
          <p:cNvSpPr/>
          <p:nvPr/>
        </p:nvSpPr>
        <p:spPr>
          <a:xfrm>
            <a:off x="1143000" y="2650331"/>
            <a:ext cx="1643063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Define papel, limites, idioma, quando consultar BigQuery e quando recusar.</a:t>
            </a:r>
            <a:endParaRPr sz="1100"/>
          </a:p>
        </p:txBody>
      </p:sp>
      <p:sp>
        <p:nvSpPr>
          <p:cNvPr id="188" name="Google Shape;188;p19"/>
          <p:cNvSpPr/>
          <p:nvPr/>
        </p:nvSpPr>
        <p:spPr>
          <a:xfrm>
            <a:off x="3429000" y="2250281"/>
            <a:ext cx="22860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3571875" y="2378869"/>
            <a:ext cx="242888" cy="242888"/>
          </a:xfrm>
          <a:prstGeom prst="ellipse">
            <a:avLst/>
          </a:prstGeom>
          <a:solidFill>
            <a:srgbClr val="00B8A9"/>
          </a:solidFill>
          <a:ln cap="flat" cmpd="sng" w="9525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3929063" y="2393156"/>
            <a:ext cx="16430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Catalogo</a:t>
            </a:r>
            <a:endParaRPr sz="1100"/>
          </a:p>
        </p:txBody>
      </p:sp>
      <p:sp>
        <p:nvSpPr>
          <p:cNvPr id="191" name="Google Shape;191;p19"/>
          <p:cNvSpPr/>
          <p:nvPr/>
        </p:nvSpPr>
        <p:spPr>
          <a:xfrm>
            <a:off x="3929063" y="2650331"/>
            <a:ext cx="1643063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Lista views permitidas, campos, metricas, sinonimos e perguntas esperadas.</a:t>
            </a:r>
            <a:endParaRPr sz="1100"/>
          </a:p>
        </p:txBody>
      </p:sp>
      <p:sp>
        <p:nvSpPr>
          <p:cNvPr id="192" name="Google Shape;192;p19"/>
          <p:cNvSpPr/>
          <p:nvPr/>
        </p:nvSpPr>
        <p:spPr>
          <a:xfrm>
            <a:off x="6215063" y="2250281"/>
            <a:ext cx="22860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6357938" y="2378869"/>
            <a:ext cx="242888" cy="242888"/>
          </a:xfrm>
          <a:prstGeom prst="ellipse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715125" y="2393156"/>
            <a:ext cx="16430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Ferramenta</a:t>
            </a:r>
            <a:endParaRPr sz="1100"/>
          </a:p>
        </p:txBody>
      </p:sp>
      <p:sp>
        <p:nvSpPr>
          <p:cNvPr id="195" name="Google Shape;195;p19"/>
          <p:cNvSpPr/>
          <p:nvPr/>
        </p:nvSpPr>
        <p:spPr>
          <a:xfrm>
            <a:off x="6715125" y="2650331"/>
            <a:ext cx="1643063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Executa somente SQL validado e devolve linhas serializadas para o modelo.</a:t>
            </a:r>
            <a:endParaRPr sz="1100"/>
          </a:p>
        </p:txBody>
      </p:sp>
      <p:sp>
        <p:nvSpPr>
          <p:cNvPr id="196" name="Google Shape;196;p19"/>
          <p:cNvSpPr/>
          <p:nvPr/>
        </p:nvSpPr>
        <p:spPr>
          <a:xfrm>
            <a:off x="2928938" y="2678906"/>
            <a:ext cx="500063" cy="28575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715000" y="2678906"/>
            <a:ext cx="500063" cy="28575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1071563" y="3714750"/>
            <a:ext cx="7000875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300" lIns="14300" spcFirstLastPara="1" rIns="14300" wrap="square" tIns="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Importante: as perguntas do YAML sao exemplos de escopo, nao comandos rigidos. O Gemini interpreta variacoes naturais como 'faturamento mensal' ou 'quem recebeu mais dinheiro?'.</a:t>
            </a:r>
            <a:endParaRPr sz="1100"/>
          </a:p>
        </p:txBody>
      </p:sp>
      <p:sp>
        <p:nvSpPr>
          <p:cNvPr id="199" name="Google Shape;199;p19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Fonte: POC Finance AI e documentacao local</a:t>
            </a:r>
            <a:endParaRPr sz="1100"/>
          </a:p>
        </p:txBody>
      </p:sp>
      <p:sp>
        <p:nvSpPr>
          <p:cNvPr id="200" name="Google Shape;200;p19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pic>
        <p:nvPicPr>
          <p:cNvPr id="201" name="Google Shape;201;p19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cap="flat" cmpd="sng" w="9525">
            <a:solidFill>
              <a:srgbClr val="F5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00063" y="892969"/>
            <a:ext cx="171450" cy="21431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771525" y="84296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GOVERNANCA</a:t>
            </a:r>
            <a:endParaRPr sz="1100"/>
          </a:p>
        </p:txBody>
      </p:sp>
      <p:sp>
        <p:nvSpPr>
          <p:cNvPr id="210" name="Google Shape;210;p20"/>
          <p:cNvSpPr/>
          <p:nvPr/>
        </p:nvSpPr>
        <p:spPr>
          <a:xfrm>
            <a:off x="500063" y="1035844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71A3D"/>
                </a:solidFill>
                <a:latin typeface="Play"/>
                <a:ea typeface="Play"/>
                <a:cs typeface="Play"/>
                <a:sym typeface="Play"/>
              </a:rPr>
              <a:t>A consulta segura e o principal mecanismo anti-acidente.</a:t>
            </a:r>
            <a:endParaRPr sz="1100"/>
          </a:p>
        </p:txBody>
      </p:sp>
      <p:sp>
        <p:nvSpPr>
          <p:cNvPr id="211" name="Google Shape;211;p20"/>
          <p:cNvSpPr/>
          <p:nvPr/>
        </p:nvSpPr>
        <p:spPr>
          <a:xfrm>
            <a:off x="821531" y="2143125"/>
            <a:ext cx="1750219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Somente SELECT</a:t>
            </a:r>
            <a:endParaRPr sz="1100"/>
          </a:p>
        </p:txBody>
      </p:sp>
      <p:sp>
        <p:nvSpPr>
          <p:cNvPr id="212" name="Google Shape;212;p20"/>
          <p:cNvSpPr/>
          <p:nvPr/>
        </p:nvSpPr>
        <p:spPr>
          <a:xfrm>
            <a:off x="2714625" y="2200275"/>
            <a:ext cx="4357688" cy="100013"/>
          </a:xfrm>
          <a:prstGeom prst="rect">
            <a:avLst/>
          </a:prstGeom>
          <a:solidFill>
            <a:srgbClr val="E7EEF9"/>
          </a:solidFill>
          <a:ln cap="flat" cmpd="sng" w="9525">
            <a:solidFill>
              <a:srgbClr val="E7EE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2714625" y="2200275"/>
            <a:ext cx="3286125" cy="100013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7250906" y="2128838"/>
            <a:ext cx="121443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DDL/DML bloqueados</a:t>
            </a:r>
            <a:endParaRPr sz="1100"/>
          </a:p>
        </p:txBody>
      </p:sp>
      <p:sp>
        <p:nvSpPr>
          <p:cNvPr id="215" name="Google Shape;215;p20"/>
          <p:cNvSpPr/>
          <p:nvPr/>
        </p:nvSpPr>
        <p:spPr>
          <a:xfrm>
            <a:off x="821531" y="2607469"/>
            <a:ext cx="1750219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Allowlist</a:t>
            </a:r>
            <a:endParaRPr sz="1100"/>
          </a:p>
        </p:txBody>
      </p:sp>
      <p:sp>
        <p:nvSpPr>
          <p:cNvPr id="216" name="Google Shape;216;p20"/>
          <p:cNvSpPr/>
          <p:nvPr/>
        </p:nvSpPr>
        <p:spPr>
          <a:xfrm>
            <a:off x="2714625" y="2664619"/>
            <a:ext cx="4357688" cy="100013"/>
          </a:xfrm>
          <a:prstGeom prst="rect">
            <a:avLst/>
          </a:prstGeom>
          <a:solidFill>
            <a:srgbClr val="E7EEF9"/>
          </a:solidFill>
          <a:ln cap="flat" cmpd="sng" w="9525">
            <a:solidFill>
              <a:srgbClr val="E7EE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2714625" y="2664619"/>
            <a:ext cx="3286125" cy="100013"/>
          </a:xfrm>
          <a:prstGeom prst="rect">
            <a:avLst/>
          </a:prstGeom>
          <a:solidFill>
            <a:srgbClr val="00B8A9"/>
          </a:solidFill>
          <a:ln cap="flat" cmpd="sng" w="9525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7250906" y="2593181"/>
            <a:ext cx="121443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apenas 4 views</a:t>
            </a:r>
            <a:endParaRPr sz="1100"/>
          </a:p>
        </p:txBody>
      </p:sp>
      <p:sp>
        <p:nvSpPr>
          <p:cNvPr id="219" name="Google Shape;219;p20"/>
          <p:cNvSpPr/>
          <p:nvPr/>
        </p:nvSpPr>
        <p:spPr>
          <a:xfrm>
            <a:off x="821531" y="3071813"/>
            <a:ext cx="1750219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Dry run</a:t>
            </a:r>
            <a:endParaRPr sz="1100"/>
          </a:p>
        </p:txBody>
      </p:sp>
      <p:sp>
        <p:nvSpPr>
          <p:cNvPr id="220" name="Google Shape;220;p20"/>
          <p:cNvSpPr/>
          <p:nvPr/>
        </p:nvSpPr>
        <p:spPr>
          <a:xfrm>
            <a:off x="2714625" y="3128963"/>
            <a:ext cx="4357688" cy="100013"/>
          </a:xfrm>
          <a:prstGeom prst="rect">
            <a:avLst/>
          </a:prstGeom>
          <a:solidFill>
            <a:srgbClr val="E7EEF9"/>
          </a:solidFill>
          <a:ln cap="flat" cmpd="sng" w="9525">
            <a:solidFill>
              <a:srgbClr val="E7EE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2714625" y="3128963"/>
            <a:ext cx="3286125" cy="100013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7250906" y="3057525"/>
            <a:ext cx="121443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custo estimado antes</a:t>
            </a:r>
            <a:endParaRPr sz="1100"/>
          </a:p>
        </p:txBody>
      </p:sp>
      <p:sp>
        <p:nvSpPr>
          <p:cNvPr id="223" name="Google Shape;223;p20"/>
          <p:cNvSpPr/>
          <p:nvPr/>
        </p:nvSpPr>
        <p:spPr>
          <a:xfrm>
            <a:off x="821531" y="3536156"/>
            <a:ext cx="1750219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Limite de bytes</a:t>
            </a:r>
            <a:endParaRPr sz="1100"/>
          </a:p>
        </p:txBody>
      </p:sp>
      <p:sp>
        <p:nvSpPr>
          <p:cNvPr id="224" name="Google Shape;224;p20"/>
          <p:cNvSpPr/>
          <p:nvPr/>
        </p:nvSpPr>
        <p:spPr>
          <a:xfrm>
            <a:off x="2714625" y="3593306"/>
            <a:ext cx="4357688" cy="100013"/>
          </a:xfrm>
          <a:prstGeom prst="rect">
            <a:avLst/>
          </a:prstGeom>
          <a:solidFill>
            <a:srgbClr val="E7EEF9"/>
          </a:solidFill>
          <a:ln cap="flat" cmpd="sng" w="9525">
            <a:solidFill>
              <a:srgbClr val="E7EE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2714625" y="3593306"/>
            <a:ext cx="3286125" cy="100013"/>
          </a:xfrm>
          <a:prstGeom prst="rect">
            <a:avLst/>
          </a:prstGeom>
          <a:solidFill>
            <a:srgbClr val="10A66A"/>
          </a:solidFill>
          <a:ln cap="flat" cmpd="sng" w="9525">
            <a:solidFill>
              <a:srgbClr val="10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7250906" y="3521869"/>
            <a:ext cx="121443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100 MB na POC</a:t>
            </a:r>
            <a:endParaRPr sz="1100"/>
          </a:p>
        </p:txBody>
      </p:sp>
      <p:sp>
        <p:nvSpPr>
          <p:cNvPr id="227" name="Google Shape;227;p20"/>
          <p:cNvSpPr/>
          <p:nvPr/>
        </p:nvSpPr>
        <p:spPr>
          <a:xfrm>
            <a:off x="785813" y="4143375"/>
            <a:ext cx="6715125" cy="3000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A IA sugere a consulta; a ferramenta decide se pode executar.</a:t>
            </a:r>
            <a:endParaRPr sz="1100"/>
          </a:p>
        </p:txBody>
      </p:sp>
      <p:sp>
        <p:nvSpPr>
          <p:cNvPr id="228" name="Google Shape;228;p20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Fonte: POC Finance AI e documentacao local</a:t>
            </a:r>
            <a:endParaRPr sz="1100"/>
          </a:p>
        </p:txBody>
      </p:sp>
      <p:sp>
        <p:nvSpPr>
          <p:cNvPr id="229" name="Google Shape;229;p20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pic>
        <p:nvPicPr>
          <p:cNvPr id="230" name="Google Shape;230;p20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00063" y="892969"/>
            <a:ext cx="171450" cy="21431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771525" y="84296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STATUS DO DEPLOY</a:t>
            </a:r>
            <a:endParaRPr sz="1100"/>
          </a:p>
        </p:txBody>
      </p:sp>
      <p:sp>
        <p:nvSpPr>
          <p:cNvPr id="239" name="Google Shape;239;p21"/>
          <p:cNvSpPr/>
          <p:nvPr/>
        </p:nvSpPr>
        <p:spPr>
          <a:xfrm>
            <a:off x="500063" y="1035844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71A3D"/>
                </a:solidFill>
                <a:latin typeface="Play"/>
                <a:ea typeface="Play"/>
                <a:cs typeface="Play"/>
                <a:sym typeface="Play"/>
              </a:rPr>
              <a:t>O endpoint funciona; falta destrancar a porta para o Google Chat.</a:t>
            </a:r>
            <a:endParaRPr sz="1100"/>
          </a:p>
        </p:txBody>
      </p:sp>
      <p:sp>
        <p:nvSpPr>
          <p:cNvPr id="240" name="Google Shape;240;p21"/>
          <p:cNvSpPr/>
          <p:nvPr/>
        </p:nvSpPr>
        <p:spPr>
          <a:xfrm>
            <a:off x="571500" y="2250281"/>
            <a:ext cx="2357438" cy="10358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71500" y="2250281"/>
            <a:ext cx="50006" cy="1035844"/>
          </a:xfrm>
          <a:prstGeom prst="rect">
            <a:avLst/>
          </a:prstGeom>
          <a:solidFill>
            <a:srgbClr val="10A66A"/>
          </a:solidFill>
          <a:ln cap="flat" cmpd="sng" w="9525">
            <a:solidFill>
              <a:srgbClr val="10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742950" y="2393156"/>
            <a:ext cx="20431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Cloud Run deployado</a:t>
            </a:r>
            <a:endParaRPr sz="1100"/>
          </a:p>
        </p:txBody>
      </p:sp>
      <p:sp>
        <p:nvSpPr>
          <p:cNvPr id="243" name="Google Shape;243;p21"/>
          <p:cNvSpPr/>
          <p:nvPr/>
        </p:nvSpPr>
        <p:spPr>
          <a:xfrm>
            <a:off x="742950" y="2650331"/>
            <a:ext cx="2043113" cy="4071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Servico finance-ai-chat-adapter publicado em us-central1.</a:t>
            </a:r>
            <a:endParaRPr sz="1100"/>
          </a:p>
        </p:txBody>
      </p:sp>
      <p:sp>
        <p:nvSpPr>
          <p:cNvPr id="244" name="Google Shape;244;p21"/>
          <p:cNvSpPr/>
          <p:nvPr/>
        </p:nvSpPr>
        <p:spPr>
          <a:xfrm>
            <a:off x="3393281" y="2250281"/>
            <a:ext cx="2357438" cy="10358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3393281" y="2250281"/>
            <a:ext cx="50006" cy="1035844"/>
          </a:xfrm>
          <a:prstGeom prst="rect">
            <a:avLst/>
          </a:prstGeom>
          <a:solidFill>
            <a:srgbClr val="10A66A"/>
          </a:solidFill>
          <a:ln cap="flat" cmpd="sng" w="9525">
            <a:solidFill>
              <a:srgbClr val="10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3564731" y="2393156"/>
            <a:ext cx="20431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Health OK</a:t>
            </a:r>
            <a:endParaRPr sz="1100"/>
          </a:p>
        </p:txBody>
      </p:sp>
      <p:sp>
        <p:nvSpPr>
          <p:cNvPr id="247" name="Google Shape;247;p21"/>
          <p:cNvSpPr/>
          <p:nvPr/>
        </p:nvSpPr>
        <p:spPr>
          <a:xfrm>
            <a:off x="3564731" y="2650331"/>
            <a:ext cx="2043113" cy="4071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GET /health respondeu {status: ok} com token de identidade.</a:t>
            </a:r>
            <a:endParaRPr sz="1100"/>
          </a:p>
        </p:txBody>
      </p:sp>
      <p:sp>
        <p:nvSpPr>
          <p:cNvPr id="248" name="Google Shape;248;p21"/>
          <p:cNvSpPr/>
          <p:nvPr/>
        </p:nvSpPr>
        <p:spPr>
          <a:xfrm>
            <a:off x="6215063" y="2250281"/>
            <a:ext cx="2357438" cy="10358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6215063" y="2250281"/>
            <a:ext cx="50006" cy="1035844"/>
          </a:xfrm>
          <a:prstGeom prst="rect">
            <a:avLst/>
          </a:prstGeom>
          <a:solidFill>
            <a:srgbClr val="10A66A"/>
          </a:solidFill>
          <a:ln cap="flat" cmpd="sng" w="9525">
            <a:solidFill>
              <a:srgbClr val="10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6386513" y="2393156"/>
            <a:ext cx="20431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Chat payload OK</a:t>
            </a:r>
            <a:endParaRPr sz="1100"/>
          </a:p>
        </p:txBody>
      </p:sp>
      <p:sp>
        <p:nvSpPr>
          <p:cNvPr id="251" name="Google Shape;251;p21"/>
          <p:cNvSpPr/>
          <p:nvPr/>
        </p:nvSpPr>
        <p:spPr>
          <a:xfrm>
            <a:off x="6386513" y="2650331"/>
            <a:ext cx="2043113" cy="40719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POST /google-chat respondeu receita por mes com payload simulado.</a:t>
            </a:r>
            <a:endParaRPr sz="1100"/>
          </a:p>
        </p:txBody>
      </p:sp>
      <p:sp>
        <p:nvSpPr>
          <p:cNvPr id="252" name="Google Shape;252;p21"/>
          <p:cNvSpPr/>
          <p:nvPr/>
        </p:nvSpPr>
        <p:spPr>
          <a:xfrm>
            <a:off x="1178719" y="3643313"/>
            <a:ext cx="6786563" cy="585788"/>
          </a:xfrm>
          <a:prstGeom prst="rect">
            <a:avLst/>
          </a:prstGeom>
          <a:solidFill>
            <a:srgbClr val="FFF6E5"/>
          </a:solidFill>
          <a:ln cap="flat" cmpd="sng" w="9525">
            <a:solidFill>
              <a:srgbClr val="F2C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1428750" y="37719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Bloqueio atual</a:t>
            </a:r>
            <a:endParaRPr sz="1100"/>
          </a:p>
        </p:txBody>
      </p:sp>
      <p:sp>
        <p:nvSpPr>
          <p:cNvPr id="254" name="Google Shape;254;p21"/>
          <p:cNvSpPr/>
          <p:nvPr/>
        </p:nvSpPr>
        <p:spPr>
          <a:xfrm>
            <a:off x="2786063" y="3750469"/>
            <a:ext cx="49291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O usuario nao tem run.services.setIamPolicy. Um admin precisa conceder Cloud Run Invoker para allUsers ou definir alternativa corporativa.</a:t>
            </a:r>
            <a:endParaRPr sz="1100"/>
          </a:p>
        </p:txBody>
      </p:sp>
      <p:sp>
        <p:nvSpPr>
          <p:cNvPr id="255" name="Google Shape;255;p21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Fonte: checkpoint 2026-05-02 da POC</a:t>
            </a:r>
            <a:endParaRPr sz="1100"/>
          </a:p>
        </p:txBody>
      </p:sp>
      <p:sp>
        <p:nvSpPr>
          <p:cNvPr id="256" name="Google Shape;256;p21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pic>
        <p:nvPicPr>
          <p:cNvPr id="257" name="Google Shape;257;p21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cap="flat" cmpd="sng" w="9525">
            <a:solidFill>
              <a:srgbClr val="F5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00063" y="892969"/>
            <a:ext cx="171450" cy="21431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771525" y="84296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sz="1100"/>
          </a:p>
        </p:txBody>
      </p:sp>
      <p:sp>
        <p:nvSpPr>
          <p:cNvPr id="266" name="Google Shape;266;p22"/>
          <p:cNvSpPr/>
          <p:nvPr/>
        </p:nvSpPr>
        <p:spPr>
          <a:xfrm>
            <a:off x="500063" y="1035844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71A3D"/>
                </a:solidFill>
                <a:latin typeface="Play"/>
                <a:ea typeface="Play"/>
                <a:cs typeface="Play"/>
                <a:sym typeface="Play"/>
              </a:rPr>
              <a:t>A evolucao natural e sair de POC para piloto governado.</a:t>
            </a:r>
            <a:endParaRPr sz="1100"/>
          </a:p>
        </p:txBody>
      </p:sp>
      <p:sp>
        <p:nvSpPr>
          <p:cNvPr id="267" name="Google Shape;267;p22"/>
          <p:cNvSpPr/>
          <p:nvPr/>
        </p:nvSpPr>
        <p:spPr>
          <a:xfrm>
            <a:off x="1143000" y="3086100"/>
            <a:ext cx="6572250" cy="28575"/>
          </a:xfrm>
          <a:prstGeom prst="rect">
            <a:avLst/>
          </a:prstGeom>
          <a:solidFill>
            <a:srgbClr val="D8E3F4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928688" y="2500313"/>
            <a:ext cx="1214438" cy="1214438"/>
          </a:xfrm>
          <a:prstGeom prst="ellipse">
            <a:avLst/>
          </a:prstGeom>
          <a:solidFill>
            <a:srgbClr val="0057FF"/>
          </a:solidFill>
          <a:ln cap="flat" cmpd="sng" w="2857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1107281" y="2786063"/>
            <a:ext cx="8572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POC</a:t>
            </a:r>
            <a:endParaRPr sz="1100"/>
          </a:p>
        </p:txBody>
      </p:sp>
      <p:sp>
        <p:nvSpPr>
          <p:cNvPr id="270" name="Google Shape;270;p22"/>
          <p:cNvSpPr/>
          <p:nvPr/>
        </p:nvSpPr>
        <p:spPr>
          <a:xfrm>
            <a:off x="857250" y="3893344"/>
            <a:ext cx="1357313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ADK + BigQuery + Cloud Run validado</a:t>
            </a:r>
            <a:endParaRPr sz="1100"/>
          </a:p>
        </p:txBody>
      </p:sp>
      <p:sp>
        <p:nvSpPr>
          <p:cNvPr id="271" name="Google Shape;271;p22"/>
          <p:cNvSpPr/>
          <p:nvPr/>
        </p:nvSpPr>
        <p:spPr>
          <a:xfrm>
            <a:off x="2714625" y="2500313"/>
            <a:ext cx="1214438" cy="121443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2893219" y="2786063"/>
            <a:ext cx="8572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Chat</a:t>
            </a:r>
            <a:endParaRPr sz="1100"/>
          </a:p>
        </p:txBody>
      </p:sp>
      <p:sp>
        <p:nvSpPr>
          <p:cNvPr id="273" name="Google Shape;273;p22"/>
          <p:cNvSpPr/>
          <p:nvPr/>
        </p:nvSpPr>
        <p:spPr>
          <a:xfrm>
            <a:off x="2643188" y="3893344"/>
            <a:ext cx="1357313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liberar IAM e testar conversa real</a:t>
            </a:r>
            <a:endParaRPr sz="1100"/>
          </a:p>
        </p:txBody>
      </p:sp>
      <p:sp>
        <p:nvSpPr>
          <p:cNvPr id="274" name="Google Shape;274;p22"/>
          <p:cNvSpPr/>
          <p:nvPr/>
        </p:nvSpPr>
        <p:spPr>
          <a:xfrm>
            <a:off x="4500563" y="2500313"/>
            <a:ext cx="1214438" cy="121443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4679156" y="2786063"/>
            <a:ext cx="8572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Auditoria</a:t>
            </a:r>
            <a:endParaRPr sz="1100"/>
          </a:p>
        </p:txBody>
      </p:sp>
      <p:sp>
        <p:nvSpPr>
          <p:cNvPr id="276" name="Google Shape;276;p22"/>
          <p:cNvSpPr/>
          <p:nvPr/>
        </p:nvSpPr>
        <p:spPr>
          <a:xfrm>
            <a:off x="4429125" y="3893344"/>
            <a:ext cx="1357313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registrar usuario, pergunta, SQL e job</a:t>
            </a:r>
            <a:endParaRPr sz="1100"/>
          </a:p>
        </p:txBody>
      </p:sp>
      <p:sp>
        <p:nvSpPr>
          <p:cNvPr id="277" name="Google Shape;277;p22"/>
          <p:cNvSpPr/>
          <p:nvPr/>
        </p:nvSpPr>
        <p:spPr>
          <a:xfrm>
            <a:off x="6286500" y="2500313"/>
            <a:ext cx="1214438" cy="1214438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10A6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6465094" y="2786063"/>
            <a:ext cx="8572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71A3D"/>
                </a:solidFill>
                <a:latin typeface="Arial"/>
                <a:ea typeface="Arial"/>
                <a:cs typeface="Arial"/>
                <a:sym typeface="Arial"/>
              </a:rPr>
              <a:t>Piloto</a:t>
            </a:r>
            <a:endParaRPr sz="1100"/>
          </a:p>
        </p:txBody>
      </p:sp>
      <p:sp>
        <p:nvSpPr>
          <p:cNvPr id="279" name="Google Shape;279;p22"/>
          <p:cNvSpPr/>
          <p:nvPr/>
        </p:nvSpPr>
        <p:spPr>
          <a:xfrm>
            <a:off x="6215063" y="3893344"/>
            <a:ext cx="1357313" cy="3857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views gold reais e usuarios Financeiro</a:t>
            </a:r>
            <a:endParaRPr sz="1100"/>
          </a:p>
        </p:txBody>
      </p:sp>
      <p:sp>
        <p:nvSpPr>
          <p:cNvPr id="280" name="Google Shape;280;p22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Fonte: POC Finance AI e documentacao local</a:t>
            </a:r>
            <a:endParaRPr sz="1100"/>
          </a:p>
        </p:txBody>
      </p:sp>
      <p:sp>
        <p:nvSpPr>
          <p:cNvPr id="281" name="Google Shape;281;p22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  <p:pic>
        <p:nvPicPr>
          <p:cNvPr id="282" name="Google Shape;282;p22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3D"/>
          </a:solidFill>
          <a:ln cap="flat" cmpd="sng" w="9525">
            <a:solidFill>
              <a:srgbClr val="071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1500188" y="371475"/>
            <a:ext cx="185737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Finance AI POC</a:t>
            </a:r>
            <a:endParaRPr sz="1100"/>
          </a:p>
        </p:txBody>
      </p:sp>
      <p:sp>
        <p:nvSpPr>
          <p:cNvPr id="290" name="Google Shape;290;p23"/>
          <p:cNvSpPr/>
          <p:nvPr/>
        </p:nvSpPr>
        <p:spPr>
          <a:xfrm>
            <a:off x="500063" y="950119"/>
            <a:ext cx="171450" cy="21431"/>
          </a:xfrm>
          <a:prstGeom prst="rect">
            <a:avLst/>
          </a:prstGeom>
          <a:solidFill>
            <a:srgbClr val="AFCBFF"/>
          </a:solidFill>
          <a:ln cap="flat" cmpd="sng" w="9525">
            <a:solidFill>
              <a:srgbClr val="AF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771525" y="900113"/>
            <a:ext cx="2571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AFCBFF"/>
                </a:solidFill>
                <a:latin typeface="Arial"/>
                <a:ea typeface="Arial"/>
                <a:cs typeface="Arial"/>
                <a:sym typeface="Arial"/>
              </a:rPr>
              <a:t>DECISAO DE AGORA</a:t>
            </a:r>
            <a:endParaRPr sz="1100"/>
          </a:p>
        </p:txBody>
      </p:sp>
      <p:sp>
        <p:nvSpPr>
          <p:cNvPr id="292" name="Google Shape;292;p23"/>
          <p:cNvSpPr/>
          <p:nvPr/>
        </p:nvSpPr>
        <p:spPr>
          <a:xfrm>
            <a:off x="500063" y="1143000"/>
            <a:ext cx="5429250" cy="7715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 proximo passo e liberar o teste fim a fim e preparar a trilha de auditoria.</a:t>
            </a:r>
            <a:endParaRPr sz="1100"/>
          </a:p>
        </p:txBody>
      </p:sp>
      <p:sp>
        <p:nvSpPr>
          <p:cNvPr id="293" name="Google Shape;293;p23"/>
          <p:cNvSpPr/>
          <p:nvPr/>
        </p:nvSpPr>
        <p:spPr>
          <a:xfrm>
            <a:off x="571500" y="2607469"/>
            <a:ext cx="2428875" cy="985838"/>
          </a:xfrm>
          <a:prstGeom prst="rect">
            <a:avLst/>
          </a:prstGeom>
          <a:solidFill>
            <a:srgbClr val="102D61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571500" y="2607469"/>
            <a:ext cx="50006" cy="985838"/>
          </a:xfrm>
          <a:prstGeom prst="rect">
            <a:avLst/>
          </a:prstGeom>
          <a:solidFill>
            <a:srgbClr val="0057FF"/>
          </a:solidFill>
          <a:ln cap="flat" cmpd="sng" w="9525">
            <a:solidFill>
              <a:srgbClr val="005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742950" y="2750344"/>
            <a:ext cx="21145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Liberar </a:t>
            </a:r>
            <a:r>
              <a:rPr b="1" lang="pt-BR" sz="1000">
                <a:solidFill>
                  <a:srgbClr val="FFFFFF"/>
                </a:solidFill>
              </a:rPr>
              <a:t>invocação</a:t>
            </a:r>
            <a:endParaRPr sz="1100"/>
          </a:p>
        </p:txBody>
      </p:sp>
      <p:sp>
        <p:nvSpPr>
          <p:cNvPr id="296" name="Google Shape;296;p23"/>
          <p:cNvSpPr/>
          <p:nvPr/>
        </p:nvSpPr>
        <p:spPr>
          <a:xfrm>
            <a:off x="742950" y="3007519"/>
            <a:ext cx="2114550" cy="3571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C8D7F6"/>
                </a:solidFill>
                <a:latin typeface="Arial"/>
                <a:ea typeface="Arial"/>
                <a:cs typeface="Arial"/>
                <a:sym typeface="Arial"/>
              </a:rPr>
              <a:t>Admin concede Cloud Run Invoker ao endpoint ou define alternativa corporativa.</a:t>
            </a:r>
            <a:endParaRPr sz="1100"/>
          </a:p>
        </p:txBody>
      </p:sp>
      <p:sp>
        <p:nvSpPr>
          <p:cNvPr id="297" name="Google Shape;297;p23"/>
          <p:cNvSpPr/>
          <p:nvPr/>
        </p:nvSpPr>
        <p:spPr>
          <a:xfrm>
            <a:off x="3357563" y="2607469"/>
            <a:ext cx="2428875" cy="985838"/>
          </a:xfrm>
          <a:prstGeom prst="rect">
            <a:avLst/>
          </a:prstGeom>
          <a:solidFill>
            <a:srgbClr val="102D61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3357563" y="2607469"/>
            <a:ext cx="50006" cy="985838"/>
          </a:xfrm>
          <a:prstGeom prst="rect">
            <a:avLst/>
          </a:prstGeom>
          <a:solidFill>
            <a:srgbClr val="00B8A9"/>
          </a:solidFill>
          <a:ln cap="flat" cmpd="sng" w="9525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3529013" y="2750344"/>
            <a:ext cx="21145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Testar no Chat</a:t>
            </a:r>
            <a:endParaRPr sz="1100"/>
          </a:p>
        </p:txBody>
      </p:sp>
      <p:sp>
        <p:nvSpPr>
          <p:cNvPr id="300" name="Google Shape;300;p23"/>
          <p:cNvSpPr/>
          <p:nvPr/>
        </p:nvSpPr>
        <p:spPr>
          <a:xfrm>
            <a:off x="3529013" y="3007519"/>
            <a:ext cx="2114550" cy="3571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C8D7F6"/>
                </a:solidFill>
                <a:latin typeface="Arial"/>
                <a:ea typeface="Arial"/>
                <a:cs typeface="Arial"/>
                <a:sym typeface="Arial"/>
              </a:rPr>
              <a:t>Validar mensagem direta e </a:t>
            </a:r>
            <a:r>
              <a:rPr lang="pt-BR" sz="700">
                <a:solidFill>
                  <a:srgbClr val="C8D7F6"/>
                </a:solidFill>
              </a:rPr>
              <a:t>espaço</a:t>
            </a:r>
            <a:r>
              <a:rPr b="0" lang="pt-BR" sz="700">
                <a:solidFill>
                  <a:srgbClr val="C8D7F6"/>
                </a:solidFill>
                <a:latin typeface="Arial"/>
                <a:ea typeface="Arial"/>
                <a:cs typeface="Arial"/>
                <a:sym typeface="Arial"/>
              </a:rPr>
              <a:t> com perguntas financeiras reais.</a:t>
            </a:r>
            <a:endParaRPr sz="1100"/>
          </a:p>
        </p:txBody>
      </p:sp>
      <p:sp>
        <p:nvSpPr>
          <p:cNvPr id="301" name="Google Shape;301;p23"/>
          <p:cNvSpPr/>
          <p:nvPr/>
        </p:nvSpPr>
        <p:spPr>
          <a:xfrm>
            <a:off x="6143625" y="2607469"/>
            <a:ext cx="2428875" cy="985838"/>
          </a:xfrm>
          <a:prstGeom prst="rect">
            <a:avLst/>
          </a:prstGeom>
          <a:solidFill>
            <a:srgbClr val="102D61"/>
          </a:solidFill>
          <a:ln cap="flat" cmpd="sng" w="9525">
            <a:solidFill>
              <a:srgbClr val="D8E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6143625" y="2607469"/>
            <a:ext cx="50006" cy="985838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6315075" y="2750344"/>
            <a:ext cx="21145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Governar piloto</a:t>
            </a:r>
            <a:endParaRPr sz="1100"/>
          </a:p>
        </p:txBody>
      </p:sp>
      <p:sp>
        <p:nvSpPr>
          <p:cNvPr id="304" name="Google Shape;304;p23"/>
          <p:cNvSpPr/>
          <p:nvPr/>
        </p:nvSpPr>
        <p:spPr>
          <a:xfrm>
            <a:off x="6315075" y="3007519"/>
            <a:ext cx="2114550" cy="3571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C8D7F6"/>
                </a:solidFill>
                <a:latin typeface="Arial"/>
                <a:ea typeface="Arial"/>
                <a:cs typeface="Arial"/>
                <a:sym typeface="Arial"/>
              </a:rPr>
              <a:t>Criar auditoria em BigQuery, service account dedicada e views gold certificadas.</a:t>
            </a:r>
            <a:endParaRPr sz="1100"/>
          </a:p>
        </p:txBody>
      </p:sp>
      <p:sp>
        <p:nvSpPr>
          <p:cNvPr id="305" name="Google Shape;305;p23"/>
          <p:cNvSpPr/>
          <p:nvPr/>
        </p:nvSpPr>
        <p:spPr>
          <a:xfrm>
            <a:off x="842963" y="4071938"/>
            <a:ext cx="7429500" cy="3000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D7E5FF"/>
                </a:solidFill>
                <a:latin typeface="Arial"/>
                <a:ea typeface="Arial"/>
                <a:cs typeface="Arial"/>
                <a:sym typeface="Arial"/>
              </a:rPr>
              <a:t>A POC ja provou o caminho tecnico; agora precisamos fechar o caminho operacional.</a:t>
            </a:r>
            <a:endParaRPr sz="1100"/>
          </a:p>
        </p:txBody>
      </p:sp>
      <p:sp>
        <p:nvSpPr>
          <p:cNvPr id="306" name="Google Shape;306;p23"/>
          <p:cNvSpPr/>
          <p:nvPr/>
        </p:nvSpPr>
        <p:spPr>
          <a:xfrm>
            <a:off x="500063" y="4814888"/>
            <a:ext cx="5857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60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Finance AI POC | 2026-05-02</a:t>
            </a:r>
            <a:endParaRPr sz="1100"/>
          </a:p>
        </p:txBody>
      </p:sp>
      <p:sp>
        <p:nvSpPr>
          <p:cNvPr id="307" name="Google Shape;307;p23"/>
          <p:cNvSpPr/>
          <p:nvPr/>
        </p:nvSpPr>
        <p:spPr>
          <a:xfrm>
            <a:off x="8286750" y="4772025"/>
            <a:ext cx="357188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0057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  <p:pic>
        <p:nvPicPr>
          <p:cNvPr id="308" name="Google Shape;308;p23" title="ChatGPT Image 2 de mai. de 2026, 18_07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264945"/>
            <a:ext cx="800099" cy="357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